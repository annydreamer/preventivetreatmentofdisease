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93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EFE4"/>
                </a:solidFill>
                <a:latin typeface="Microsoft YaHei"/>
              </a:defRPr>
            </a:pPr>
            <a:r>
              <a:t>智慧中医康养平台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270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4A882"/>
                </a:solidFill>
                <a:latin typeface="Microsoft YaHei"/>
              </a:defRPr>
            </a:pPr>
            <a:r>
              <a:t>AI驱动的中医健康管理解决方案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0" y="378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A8"/>
                </a:solidFill>
                <a:latin typeface="Microsoft YaHei"/>
              </a:defRPr>
            </a:pPr>
            <a:r>
              <a:t>融合中医体质辨识智慧与现代AI技术  |  为医院打造全链路中医康养管理解决方案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40000" y="4680000"/>
            <a:ext cx="1260000" cy="360000"/>
          </a:xfrm>
          <a:prstGeom prst="roundRect">
            <a:avLst/>
          </a:prstGeom>
          <a:noFill/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C4A882"/>
                </a:solidFill>
                <a:latin typeface="Microsoft YaHei"/>
              </a:defRPr>
            </a:pPr>
            <a:r>
              <a:t>中医 +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0" y="4680000"/>
            <a:ext cx="1260000" cy="360000"/>
          </a:xfrm>
          <a:prstGeom prst="roundRect">
            <a:avLst/>
          </a:prstGeom>
          <a:noFill/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C4A882"/>
                </a:solidFill>
                <a:latin typeface="Microsoft YaHei"/>
              </a:defRPr>
            </a:pPr>
            <a:r>
              <a:t>B2B2C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0000" y="4680000"/>
            <a:ext cx="1260000" cy="360000"/>
          </a:xfrm>
          <a:prstGeom prst="roundRect">
            <a:avLst/>
          </a:prstGeom>
          <a:noFill/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C4A882"/>
                </a:solidFill>
                <a:latin typeface="Microsoft YaHei"/>
              </a:defRPr>
            </a:pPr>
            <a:r>
              <a:t>全链路管理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A2B"/>
                </a:solidFill>
                <a:latin typeface="Microsoft YaHei"/>
              </a:defRPr>
            </a:pPr>
            <a:r>
              <a:t>WHY WE BUILD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为什么做这件事？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32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慢病困局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088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8A"/>
                </a:solidFill>
                <a:latin typeface="Microsoft YaHei"/>
              </a:defRPr>
            </a:pPr>
            <a:r>
              <a:t>慢性病患者超4亿</a:t>
            </a:r>
            <a:br/>
            <a:r>
              <a:t>管理依从性不足30%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0" y="1260000"/>
            <a:ext cx="32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医院痛点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0" y="2088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8A"/>
                </a:solidFill>
                <a:latin typeface="Microsoft YaHei"/>
              </a:defRPr>
            </a:pPr>
            <a:r>
              <a:t>院外管理完全断裂</a:t>
            </a:r>
            <a:br/>
            <a:r>
              <a:t>康养科创收能力弱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0000" y="1260000"/>
            <a:ext cx="32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A1A2E"/>
                </a:solidFill>
                <a:latin typeface="Microsoft YaHei"/>
              </a:defRPr>
            </a:pPr>
            <a:r>
              <a:t>政策红利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2088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8A"/>
                </a:solidFill>
                <a:latin typeface="Microsoft YaHei"/>
              </a:defRPr>
            </a:pPr>
            <a:r>
              <a:t>"AI+中医药"6大场景</a:t>
            </a:r>
            <a:br/>
            <a:r>
              <a:t>智慧康养为重点方向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60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5A2B"/>
                </a:solidFill>
                <a:latin typeface="Microsoft YaHei"/>
              </a:defRPr>
            </a:pPr>
            <a:r>
              <a:t>"上工治未病，中工治欲病，下工治已病" —— 《黄帝内经》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320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A2B"/>
                </a:solidFill>
                <a:latin typeface="Microsoft YaHei"/>
              </a:defRPr>
            </a:pPr>
            <a:r>
              <a:t>3,200亿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86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中医健康管理市场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4320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A2B"/>
                </a:solidFill>
                <a:latin typeface="Microsoft YaHei"/>
              </a:defRPr>
            </a:pPr>
            <a:r>
              <a:t>3.5万+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0" y="486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中医类医疗机构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4320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A2B"/>
                </a:solidFill>
                <a:latin typeface="Microsoft YaHei"/>
              </a:defRPr>
            </a:pPr>
            <a:r>
              <a:t>76.7%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0000" y="486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治未病科设置率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4A882"/>
                </a:solidFill>
                <a:latin typeface="Microsoft YaHe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EFE4"/>
                </a:solidFill>
                <a:latin typeface="Microsoft YaHei"/>
              </a:defRPr>
            </a:pPr>
            <a:r>
              <a:t>商业模式（B2B2C）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Microsoft YaHei"/>
              </a:defRPr>
            </a:pPr>
            <a:r>
              <a:t>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80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EFE4"/>
                </a:solidFill>
                <a:latin typeface="Microsoft YaHei"/>
              </a:defRPr>
            </a:pPr>
            <a:r>
              <a:t>医院买单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223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SaaS订阅/定制部署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0" y="16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4A8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126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Microsoft YaHei"/>
              </a:defRPr>
            </a:pPr>
            <a: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0" y="180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EFE4"/>
                </a:solidFill>
                <a:latin typeface="Microsoft YaHei"/>
              </a:defRPr>
            </a:pPr>
            <a:r>
              <a:t>患者使用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223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微信小程序零门槛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6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4A8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0" y="126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0" y="180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EFE4"/>
                </a:solidFill>
                <a:latin typeface="Microsoft YaHei"/>
              </a:defRPr>
            </a:pPr>
            <a:r>
              <a:t>AI提升粘性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0" y="223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个性化+日常互动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0" y="16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4A8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0000" y="126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0000" y="180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EFE4"/>
                </a:solidFill>
                <a:latin typeface="Microsoft YaHei"/>
              </a:defRPr>
            </a:pPr>
            <a:r>
              <a:t>提高复诊率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0" y="223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智能随访+复诊引导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000" y="16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4A8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00" y="126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180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EFE4"/>
                </a:solidFill>
                <a:latin typeface="Microsoft YaHei"/>
              </a:defRPr>
            </a:pPr>
            <a:r>
              <a:t>医院增收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00" y="223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正向飞轮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A2B"/>
                </a:solidFill>
                <a:latin typeface="Microsoft YaHei"/>
              </a:defRPr>
            </a:pPr>
            <a:r>
              <a:t>PRODUCT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产品架构总览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32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📱 患者端</a:t>
            </a:r>
          </a:p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微信小程序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216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D9A64"/>
                </a:solidFill>
                <a:latin typeface="Microsoft YaHei"/>
              </a:defRPr>
            </a:pPr>
            <a:r>
              <a:t>体质评估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70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D9A64"/>
                </a:solidFill>
                <a:latin typeface="Microsoft YaHei"/>
              </a:defRPr>
            </a:pPr>
            <a:r>
              <a:t>养生方案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24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D9A64"/>
                </a:solidFill>
                <a:latin typeface="Microsoft YaHei"/>
              </a:defRPr>
            </a:pPr>
            <a:r>
              <a:t>健康日记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78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D9A64"/>
                </a:solidFill>
                <a:latin typeface="Microsoft YaHei"/>
              </a:defRPr>
            </a:pPr>
            <a:r>
              <a:t>AI助手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32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D9A64"/>
                </a:solidFill>
                <a:latin typeface="Microsoft YaHei"/>
              </a:defRPr>
            </a:pPr>
            <a:r>
              <a:t>随访反馈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8000" y="16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4A882"/>
                </a:solidFill>
                <a:latin typeface="Microsoft YaHei"/>
              </a:defRPr>
            </a:pPr>
            <a:r>
              <a:t>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0000" y="1260000"/>
            <a:ext cx="32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🧠 AI智能中枢</a:t>
            </a:r>
          </a:p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通义千问+中医知识库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0000" y="216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8B5A2B"/>
                </a:solidFill>
                <a:latin typeface="Microsoft YaHei"/>
              </a:defRPr>
            </a:pPr>
            <a:r>
              <a:t>体质辨识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0000" y="270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8B5A2B"/>
                </a:solidFill>
                <a:latin typeface="Microsoft YaHei"/>
              </a:defRPr>
            </a:pPr>
            <a:r>
              <a:t>方案生成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0000" y="324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8B5A2B"/>
                </a:solidFill>
                <a:latin typeface="Microsoft YaHei"/>
              </a:defRPr>
            </a:pPr>
            <a:r>
              <a:t>健康问答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378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8B5A2B"/>
                </a:solidFill>
                <a:latin typeface="Microsoft YaHei"/>
              </a:defRPr>
            </a:pPr>
            <a:r>
              <a:t>随访分析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0000" y="432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8B5A2B"/>
                </a:solidFill>
                <a:latin typeface="Microsoft YaHei"/>
              </a:defRPr>
            </a:pPr>
            <a:r>
              <a:t>风险预警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000" y="16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4A882"/>
                </a:solidFill>
                <a:latin typeface="Microsoft YaHei"/>
              </a:defRPr>
            </a:pPr>
            <a:r>
              <a:t>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00" y="1260000"/>
            <a:ext cx="32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💻 医生端</a:t>
            </a:r>
          </a:p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Web管理后台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0000" y="216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83232"/>
                </a:solidFill>
                <a:latin typeface="Microsoft YaHei"/>
              </a:defRPr>
            </a:pPr>
            <a:r>
              <a:t>数据看板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0000" y="270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83232"/>
                </a:solidFill>
                <a:latin typeface="Microsoft YaHei"/>
              </a:defRPr>
            </a:pPr>
            <a:r>
              <a:t>患者画像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0000" y="324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83232"/>
                </a:solidFill>
                <a:latin typeface="Microsoft YaHei"/>
              </a:defRPr>
            </a:pPr>
            <a:r>
              <a:t>随访管理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0000" y="378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83232"/>
                </a:solidFill>
                <a:latin typeface="Microsoft YaHei"/>
              </a:defRPr>
            </a:pPr>
            <a:r>
              <a:t>风险预警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0000" y="4320000"/>
            <a:ext cx="28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C83232"/>
                </a:solidFill>
                <a:latin typeface="Microsoft YaHei"/>
              </a:defRPr>
            </a:pPr>
            <a:r>
              <a:t>统计报表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9A64"/>
                </a:solidFill>
                <a:latin typeface="Microsoft YaHei"/>
              </a:defRPr>
            </a:pPr>
            <a:r>
              <a:t>PATIENT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患者端：我能做什么？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A"/>
                </a:solidFill>
                <a:latin typeface="Microsoft YaHei"/>
              </a:defRPr>
            </a:pPr>
            <a:r>
              <a:t>微信扫码即用，零安装、零学习成本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1368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📋 体质评估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216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67题问卷</a:t>
            </a:r>
            <a:br/>
            <a:r>
              <a:t>10分钟</a:t>
            </a:r>
            <a:br/>
            <a:r>
              <a:t>即时报告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8000" y="1368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🍵 养生方案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6000" y="216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饮食·运动·起居</a:t>
            </a:r>
            <a:br/>
            <a:r>
              <a:t>情志·穴位</a:t>
            </a:r>
            <a:br/>
            <a:r>
              <a:t>五维方案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8000" y="1368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📔 健康日记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6000" y="216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睡眠·情绪·运动</a:t>
            </a:r>
            <a:br/>
            <a:r>
              <a:t>四维打卡</a:t>
            </a:r>
            <a:br/>
            <a:r>
              <a:t>趋势可视化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8000" y="1368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🤖 AI助手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6000" y="216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7×24小时</a:t>
            </a:r>
            <a:br/>
            <a:r>
              <a:t>懂你体质的</a:t>
            </a:r>
            <a:br/>
            <a:r>
              <a:t>中医顾问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8000" y="1368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🔔 随访提醒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6000" y="216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定期反馈</a:t>
            </a:r>
            <a:br/>
            <a:r>
              <a:t>复诊引导</a:t>
            </a:r>
            <a:br/>
            <a:r>
              <a:t>不漏随访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342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A2B"/>
                </a:solidFill>
                <a:latin typeface="Microsoft YaHei"/>
              </a:defRPr>
            </a:pPr>
            <a:r>
              <a:t>📍 用户旅程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00" y="3780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微信扫码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000" y="39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4A8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28000" y="3780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10分钟评估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000" y="39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4A8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8000" y="3780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AI出报告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39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4A8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8000" y="3780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每日打卡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8000" y="39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4A8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8000" y="3780000"/>
            <a:ext cx="198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随访复诊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A2B"/>
                </a:solidFill>
                <a:latin typeface="Microsoft YaHei"/>
              </a:defRPr>
            </a:pPr>
            <a:r>
              <a:t>CONSTITUTION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AI 中医体质辨识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A"/>
                </a:solidFill>
                <a:latin typeface="Microsoft YaHei"/>
              </a:defRPr>
            </a:pPr>
            <a:r>
              <a:t>标准化评分 + AI增强分析 = 双轨制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368000"/>
            <a:ext cx="540000" cy="540000"/>
          </a:xfrm>
          <a:prstGeom prst="roundRect">
            <a:avLst/>
          </a:prstGeom>
          <a:solidFill>
            <a:srgbClr val="2D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36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国标问卷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69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9种体质·67题·5级评分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268000"/>
            <a:ext cx="540000" cy="540000"/>
          </a:xfrm>
          <a:prstGeom prst="roundRect">
            <a:avLst/>
          </a:prstGeom>
          <a:solidFill>
            <a:srgbClr val="2D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226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算法评分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259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转化分公式计算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3168000"/>
            <a:ext cx="540000" cy="540000"/>
          </a:xfrm>
          <a:prstGeom prst="roundRect">
            <a:avLst/>
          </a:prstGeom>
          <a:solidFill>
            <a:srgbClr val="2D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0000" y="316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AI解读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349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通义千问分析特征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4068000"/>
            <a:ext cx="540000" cy="540000"/>
          </a:xfrm>
          <a:prstGeom prst="roundRect">
            <a:avLst/>
          </a:prstGeom>
          <a:solidFill>
            <a:srgbClr val="2D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406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可视化报告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439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柱状图+标签+方案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126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A2B"/>
                </a:solidFill>
                <a:latin typeface="Microsoft YaHei"/>
              </a:defRPr>
            </a:pPr>
            <a:r>
              <a:t>9种中医体质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000" y="1728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平和质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0000" y="1728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气虚质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000" y="1728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阳虚质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0000" y="2628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阴虚质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0000" y="2628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痰湿质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0000" y="2628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湿热质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0000" y="3528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血瘀质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0000" y="3528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气郁质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0000" y="3528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A1A2E"/>
                </a:solidFill>
                <a:latin typeface="Microsoft YaHei"/>
              </a:defRPr>
            </a:pPr>
            <a:r>
              <a:t>特禀质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4A882"/>
                </a:solidFill>
                <a:latin typeface="Microsoft YaHei"/>
              </a:defRPr>
            </a:pPr>
            <a:r>
              <a:t>HEALTH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EFE4"/>
                </a:solidFill>
                <a:latin typeface="Microsoft YaHei"/>
              </a:defRPr>
            </a:pPr>
            <a:r>
              <a:t>个性化养生方案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A882"/>
                </a:solidFill>
                <a:latin typeface="Microsoft YaHei"/>
              </a:defRPr>
            </a:pPr>
            <a:r>
              <a:t>不是笼统的"多喝水"，而是可以照着做的具体方案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1440000"/>
            <a:ext cx="1980000" cy="720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5EFE4"/>
                </a:solidFill>
                <a:latin typeface="Microsoft YaHei"/>
              </a:defRPr>
            </a:pPr>
            <a:r>
              <a:t>🥘 饮食调养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2268000"/>
            <a:ext cx="1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山药粥、黄芪鸡汤</a:t>
            </a:r>
            <a:br/>
            <a:r>
              <a:t>避免生冷、油腻</a:t>
            </a:r>
            <a:br/>
            <a:r>
              <a:t>代茶饮：黄芪+枸杞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8000" y="1440000"/>
            <a:ext cx="1980000" cy="720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5EFE4"/>
                </a:solidFill>
                <a:latin typeface="Microsoft YaHei"/>
              </a:defRPr>
            </a:pPr>
            <a:r>
              <a:t>🏃 运动指导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6000" y="2268000"/>
            <a:ext cx="1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八段锦·太极·散步</a:t>
            </a:r>
            <a:br/>
            <a:r>
              <a:t>每次30min·每周5次</a:t>
            </a:r>
            <a:br/>
            <a:r>
              <a:t>避免剧烈运动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8000" y="1440000"/>
            <a:ext cx="1980000" cy="720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5EFE4"/>
                </a:solidFill>
                <a:latin typeface="Microsoft YaHei"/>
              </a:defRPr>
            </a:pPr>
            <a:r>
              <a:t>🌙 起居调摄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6000" y="2268000"/>
            <a:ext cx="1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23点前入睡</a:t>
            </a:r>
            <a:br/>
            <a:r>
              <a:t>注意保暖·避受风</a:t>
            </a:r>
            <a:br/>
            <a:r>
              <a:t>午休15-30分钟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8000" y="1440000"/>
            <a:ext cx="1980000" cy="720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5EFE4"/>
                </a:solidFill>
                <a:latin typeface="Microsoft YaHei"/>
              </a:defRPr>
            </a:pPr>
            <a:r>
              <a:t>🧘 情志养护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6000" y="2268000"/>
            <a:ext cx="1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保持乐观心态</a:t>
            </a:r>
            <a:br/>
            <a:r>
              <a:t>避免思虑过度</a:t>
            </a:r>
            <a:br/>
            <a:r>
              <a:t>古琴、冥想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8000" y="1440000"/>
            <a:ext cx="1980000" cy="720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5EFE4"/>
                </a:solidFill>
                <a:latin typeface="Microsoft YaHei"/>
              </a:defRPr>
            </a:pPr>
            <a:r>
              <a:t>📍 穴位保健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6000" y="2268000"/>
            <a:ext cx="1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足三里·补气健脾</a:t>
            </a:r>
            <a:br/>
            <a:r>
              <a:t>气海·益气培元</a:t>
            </a:r>
            <a:br/>
            <a:r>
              <a:t>每穴3-5分钟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A2B"/>
                </a:solidFill>
                <a:latin typeface="Microsoft YaHei"/>
              </a:defRPr>
            </a:pPr>
            <a:r>
              <a:t>DOCTOR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医生端：如何监控患者？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A2B"/>
                </a:solidFill>
                <a:latin typeface="Microsoft YaHei"/>
              </a:defRPr>
            </a:pPr>
            <a:r>
              <a:t>📊 全局看板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800000"/>
            <a:ext cx="1260000" cy="7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8B5A2B"/>
                </a:solidFill>
                <a:latin typeface="Microsoft YaHei"/>
              </a:defRPr>
            </a:pPr>
            <a:r>
              <a:t>1,284</a:t>
            </a:r>
          </a:p>
          <a:p>
            <a:pPr algn="ctr">
              <a:defRPr sz="1400">
                <a:solidFill>
                  <a:srgbClr val="8B5A2B"/>
                </a:solidFill>
                <a:latin typeface="Microsoft YaHei"/>
              </a:defRPr>
            </a:pPr>
            <a:r>
              <a:t>在管患者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0000" y="1800000"/>
            <a:ext cx="1260000" cy="7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8B5A2B"/>
                </a:solidFill>
                <a:latin typeface="Microsoft YaHei"/>
              </a:defRPr>
            </a:pPr>
            <a:r>
              <a:t>156</a:t>
            </a:r>
          </a:p>
          <a:p>
            <a:pPr algn="ctr">
              <a:defRPr sz="1400">
                <a:solidFill>
                  <a:srgbClr val="8B5A2B"/>
                </a:solidFill>
                <a:latin typeface="Microsoft YaHei"/>
              </a:defRPr>
            </a:pPr>
            <a:r>
              <a:t>本月评估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1800000"/>
            <a:ext cx="1260000" cy="7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8B5A2B"/>
                </a:solidFill>
                <a:latin typeface="Microsoft YaHei"/>
              </a:defRPr>
            </a:pPr>
            <a:r>
              <a:t>38</a:t>
            </a:r>
          </a:p>
          <a:p>
            <a:pPr algn="ctr">
              <a:defRPr sz="1400">
                <a:solidFill>
                  <a:srgbClr val="8B5A2B"/>
                </a:solidFill>
                <a:latin typeface="Microsoft YaHei"/>
              </a:defRPr>
            </a:pPr>
            <a:r>
              <a:t>待随访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0000" y="1800000"/>
            <a:ext cx="1260000" cy="7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83232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defRPr sz="1400">
                <a:solidFill>
                  <a:srgbClr val="C83232"/>
                </a:solidFill>
                <a:latin typeface="Microsoft YaHei"/>
              </a:defRPr>
            </a:pPr>
            <a:r>
              <a:t>⚠️ 高风险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26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A2B"/>
                </a:solidFill>
                <a:latin typeface="Microsoft YaHei"/>
              </a:defRPr>
            </a:pPr>
            <a:r>
              <a:t>🔬 患者360°画像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0000" y="1800000"/>
            <a:ext cx="54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B5A2B"/>
                </a:solidFill>
                <a:latin typeface="Microsoft YaHei"/>
              </a:defRPr>
            </a:pPr>
            <a:r>
              <a:t>📋 体质档案  气虚质68.8分·兼阳虚·2次评估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2448000"/>
            <a:ext cx="54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D9A64"/>
                </a:solidFill>
                <a:latin typeface="Microsoft YaHei"/>
              </a:defRPr>
            </a:pPr>
            <a:r>
              <a:t>📔 近期日记  连续打卡12天·睡眠7h·情绪3.5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3096000"/>
            <a:ext cx="54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DAA520"/>
                </a:solidFill>
                <a:latin typeface="Microsoft YaHei"/>
              </a:defRPr>
            </a:pPr>
            <a:r>
              <a:t>🤖 AI对话  共8次·咨询：黄芪、饮食调理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3744000"/>
            <a:ext cx="54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B5A2B"/>
                </a:solidFill>
                <a:latin typeface="Microsoft YaHei"/>
              </a:defRPr>
            </a:pPr>
            <a:r>
              <a:t>🔄 随访记录  已完成3/8次·下次2月28日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0000" y="4392000"/>
            <a:ext cx="54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B6B8A"/>
                </a:solidFill>
                <a:latin typeface="Microsoft YaHei"/>
              </a:defRPr>
            </a:pPr>
            <a:r>
              <a:t>📈 趋势分析  睡眠↑15%·乏力↓·运动依从75%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3232"/>
                </a:solidFill>
                <a:latin typeface="Microsoft YaHei"/>
              </a:defRPr>
            </a:pPr>
            <a:r>
              <a:t>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EFE4"/>
                </a:solidFill>
                <a:latin typeface="Microsoft YaHei"/>
              </a:defRPr>
            </a:pPr>
            <a:r>
              <a:t>智能风险预警与干预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A882"/>
                </a:solidFill>
                <a:latin typeface="Microsoft YaHei"/>
              </a:defRPr>
            </a:pPr>
            <a:r>
              <a:t>🚨 风险信号来源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620000"/>
            <a:ext cx="5400000" cy="648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5EFE4"/>
                </a:solidFill>
                <a:latin typeface="Microsoft YaHei"/>
              </a:defRPr>
            </a:pPr>
            <a:r>
              <a:t>📔 日记异常</a:t>
            </a:r>
          </a:p>
          <a:p>
            <a:pPr algn="ctr">
              <a:defRPr sz="1100">
                <a:solidFill>
                  <a:srgbClr val="F5EFE4"/>
                </a:solidFill>
                <a:latin typeface="Microsoft YaHei"/>
              </a:defRPr>
            </a:pPr>
            <a:r>
              <a:t>连续3天睡眠&lt;5h·情绪下降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448000"/>
            <a:ext cx="5400000" cy="648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5EFE4"/>
                </a:solidFill>
                <a:latin typeface="Microsoft YaHei"/>
              </a:defRPr>
            </a:pPr>
            <a:r>
              <a:t>🔄 随访预警</a:t>
            </a:r>
          </a:p>
          <a:p>
            <a:pPr algn="ctr">
              <a:defRPr sz="1100">
                <a:solidFill>
                  <a:srgbClr val="F5EFE4"/>
                </a:solidFill>
                <a:latin typeface="Microsoft YaHei"/>
              </a:defRPr>
            </a:pPr>
            <a:r>
              <a:t>反馈评分&lt;3分·新症状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3276000"/>
            <a:ext cx="5400000" cy="648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5EFE4"/>
                </a:solidFill>
                <a:latin typeface="Microsoft YaHei"/>
              </a:defRPr>
            </a:pPr>
            <a:r>
              <a:t>⏰ 行为预警</a:t>
            </a:r>
          </a:p>
          <a:p>
            <a:pPr algn="ctr">
              <a:defRPr sz="1100">
                <a:solidFill>
                  <a:srgbClr val="F5EFE4"/>
                </a:solidFill>
                <a:latin typeface="Microsoft YaHei"/>
              </a:defRPr>
            </a:pPr>
            <a:r>
              <a:t>14天未打卡·30天未复诊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4103999"/>
            <a:ext cx="5400000" cy="648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5EFE4"/>
                </a:solidFill>
                <a:latin typeface="Microsoft YaHei"/>
              </a:defRPr>
            </a:pPr>
            <a:r>
              <a:t>🤖 对话预警</a:t>
            </a:r>
          </a:p>
          <a:p>
            <a:pPr algn="ctr">
              <a:defRPr sz="1100">
                <a:solidFill>
                  <a:srgbClr val="F5EFE4"/>
                </a:solidFill>
                <a:latin typeface="Microsoft YaHei"/>
              </a:defRPr>
            </a:pPr>
            <a:r>
              <a:t>提及胸痛/头晕等敏感症状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A882"/>
                </a:solidFill>
                <a:latin typeface="Microsoft YaHei"/>
              </a:defRPr>
            </a:pPr>
            <a:r>
              <a:t>⚡ 医生干预流程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1620000"/>
            <a:ext cx="540000" cy="5400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000" y="1620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EFE4"/>
                </a:solidFill>
                <a:latin typeface="Microsoft YaHei"/>
              </a:defRPr>
            </a:pPr>
            <a:r>
              <a:t>看板醒目提示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0000" y="19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红色角标"12名高风险"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0" y="2448000"/>
            <a:ext cx="540000" cy="5400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0000" y="244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EFE4"/>
                </a:solidFill>
                <a:latin typeface="Microsoft YaHei"/>
              </a:defRPr>
            </a:pPr>
            <a:r>
              <a:t>AI摘要辅助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0000" y="273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自动生成风险概述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000" y="3276000"/>
            <a:ext cx="540000" cy="5400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000" y="327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EFE4"/>
                </a:solidFill>
                <a:latin typeface="Microsoft YaHei"/>
              </a:defRPr>
            </a:pPr>
            <a:r>
              <a:t>一键触达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000" y="3564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推送复诊建议到小程序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000" y="4103999"/>
            <a:ext cx="540000" cy="5400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0" y="4103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EFE4"/>
                </a:solidFill>
                <a:latin typeface="Microsoft YaHei"/>
              </a:defRPr>
            </a:pPr>
            <a:r>
              <a:t>闭环追踪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0000" y="439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风险等级动态调整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A2B"/>
                </a:solidFill>
                <a:latin typeface="Microsoft YaHei"/>
              </a:defRPr>
            </a:pPr>
            <a:r>
              <a:t>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系统化分层管理方案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260000"/>
            <a:ext cx="342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🟢 低风险</a:t>
            </a:r>
          </a:p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平和质/低风险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088000"/>
            <a:ext cx="30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8A"/>
                </a:solidFill>
                <a:latin typeface="Microsoft YaHei"/>
              </a:defRPr>
            </a:pPr>
            <a:r>
              <a:t>每6月评估</a:t>
            </a:r>
            <a:br/>
            <a:r>
              <a:t>每月随访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240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9A64"/>
                </a:solidFill>
                <a:latin typeface="Microsoft YaHei"/>
              </a:defRPr>
            </a:pPr>
            <a:r>
              <a:t>目标：维持健康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0" y="1260000"/>
            <a:ext cx="342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🟡 中风险</a:t>
            </a:r>
          </a:p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偏颇体质/亚健康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088000"/>
            <a:ext cx="30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8A"/>
                </a:solidFill>
                <a:latin typeface="Microsoft YaHei"/>
              </a:defRPr>
            </a:pPr>
            <a:r>
              <a:t>每3月评估</a:t>
            </a:r>
            <a:br/>
            <a:r>
              <a:t>每2周随访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0" y="3240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AA520"/>
                </a:solidFill>
                <a:latin typeface="Microsoft YaHei"/>
              </a:defRPr>
            </a:pPr>
            <a:r>
              <a:t>目标：纠偏调理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0000" y="1260000"/>
            <a:ext cx="342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🔴 高风险</a:t>
            </a:r>
          </a:p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多兼夹/慢病并发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0000" y="2088000"/>
            <a:ext cx="30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8A"/>
                </a:solidFill>
                <a:latin typeface="Microsoft YaHei"/>
              </a:defRPr>
            </a:pPr>
            <a:r>
              <a:t>每月评估</a:t>
            </a:r>
            <a:br/>
            <a:r>
              <a:t>每周随访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0000" y="3240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3232"/>
                </a:solidFill>
                <a:latin typeface="Microsoft YaHei"/>
              </a:defRPr>
            </a:pPr>
            <a:r>
              <a:t>目标：密切监控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9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8A"/>
                </a:solidFill>
                <a:latin typeface="Microsoft YaHei"/>
              </a:defRPr>
            </a:pPr>
            <a:r>
              <a:t>等级动态调整：改善则降级，风险信号则升级 — "分层管理、精准施策"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4A882"/>
                </a:solidFill>
                <a:latin typeface="Microsoft YaHei"/>
              </a:defRPr>
            </a:pPr>
            <a:r>
              <a:t>SAFETY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EFE4"/>
                </a:solidFill>
                <a:latin typeface="Microsoft YaHei"/>
              </a:defRPr>
            </a:pPr>
            <a:r>
              <a:t>AI 安全与合规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A882"/>
                </a:solidFill>
                <a:latin typeface="Microsoft YaHei"/>
              </a:defRPr>
            </a:pPr>
            <a:r>
              <a:t>🛡️ 能力边界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72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✓ 只提供养生建议，不做诊断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26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✓ 不开处方，不替代医生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0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✓ 超能力范围诚实告知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34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✓ 双轨制：国标+AI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88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✓ 输出结构化校验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0" y="126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3232"/>
                </a:solidFill>
                <a:latin typeface="Microsoft YaHei"/>
              </a:defRPr>
            </a:pPr>
            <a:r>
              <a:t>🚨 紧急拦截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172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! 30+关键词硬编码拦截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226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! 胸痛/中风/大出血→120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0" y="280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! 心理危机→专业热线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334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! 规则引擎优先级&gt;AI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388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8EA8"/>
                </a:solidFill>
                <a:latin typeface="Microsoft YaHei"/>
              </a:defRPr>
            </a:pPr>
            <a:r>
              <a:t>! 拦截记录上报医生端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A2B"/>
                </a:solidFill>
                <a:latin typeface="Microsoft YaHe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32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🔮 结构化AI输出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052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Zod Schema</a:t>
            </a:r>
            <a:br/>
            <a:r>
              <a:t>100%可靠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0" y="1260000"/>
            <a:ext cx="32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🧬 深度上下文注入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2052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体质+日记+方案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60000" y="1260000"/>
            <a:ext cx="32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📊 双轨评分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0" y="2052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国标+AI增强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060000"/>
            <a:ext cx="32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🔌 模型可切换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851999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一行代码切换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0000" y="3060000"/>
            <a:ext cx="32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🏗️ Monorepo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0" y="3851999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pnpm+Turborepo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60000" y="3060000"/>
            <a:ext cx="32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1A2E"/>
                </a:solidFill>
                <a:latin typeface="Microsoft YaHei"/>
              </a:defRPr>
            </a:pPr>
            <a:r>
              <a:t>📱 微信生态原生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0000" y="3851999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零安装+模板消息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4A882"/>
                </a:solidFill>
                <a:latin typeface="Microsoft YaHe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EFE4"/>
                </a:solidFill>
                <a:latin typeface="Microsoft YaHei"/>
              </a:defRPr>
            </a:pPr>
            <a:r>
              <a:t>产品路线图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000" y="1260000"/>
            <a:ext cx="720000" cy="720000"/>
          </a:xfrm>
          <a:prstGeom prst="roundRect">
            <a:avLst/>
          </a:prstGeom>
          <a:solidFill>
            <a:srgbClr val="2D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208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A882"/>
                </a:solidFill>
                <a:latin typeface="Microsoft YaHei"/>
              </a:defRPr>
            </a:pPr>
            <a:r>
              <a:t>MVP·体质调理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2520000"/>
            <a:ext cx="27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体质辨识+养生方案</a:t>
            </a:r>
            <a:br/>
            <a:r>
              <a:t>日记+AI助手+随访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378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9A64"/>
                </a:solidFill>
                <a:latin typeface="Microsoft YaHei"/>
              </a:defRPr>
            </a:pPr>
            <a:r>
              <a:t>✅ 当前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8000" y="1260000"/>
            <a:ext cx="720000" cy="720000"/>
          </a:xfrm>
          <a:prstGeom prst="roundRect">
            <a:avLst/>
          </a:prstGeom>
          <a:solidFill>
            <a:srgbClr val="4A2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8000" y="208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A882"/>
                </a:solidFill>
                <a:latin typeface="Microsoft YaHei"/>
              </a:defRPr>
            </a:pPr>
            <a:r>
              <a:t>扩展·专科模块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8000" y="2520000"/>
            <a:ext cx="27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糖尿病/高血压</a:t>
            </a:r>
            <a:br/>
            <a:r>
              <a:t>骨科/心理/康复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8000" y="378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A882"/>
                </a:solidFill>
                <a:latin typeface="Microsoft YaHei"/>
              </a:defRPr>
            </a:pPr>
            <a:r>
              <a:t>📋 规划中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6000" y="1260000"/>
            <a:ext cx="720000" cy="720000"/>
          </a:xfrm>
          <a:prstGeom prst="roundRect">
            <a:avLst/>
          </a:prstGeom>
          <a:solidFill>
            <a:srgbClr val="4A2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6000" y="208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A882"/>
                </a:solidFill>
                <a:latin typeface="Microsoft YaHei"/>
              </a:defRPr>
            </a:pPr>
            <a:r>
              <a:t>深化·AI增强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6000" y="2520000"/>
            <a:ext cx="27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舌象识别/RAG</a:t>
            </a:r>
            <a:br/>
            <a:r>
              <a:t>多模态/风险模型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6000" y="378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A882"/>
                </a:solidFill>
                <a:latin typeface="Microsoft YaHei"/>
              </a:defRPr>
            </a:pPr>
            <a:r>
              <a:t>📋 规划中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44000" y="1260000"/>
            <a:ext cx="720000" cy="720000"/>
          </a:xfrm>
          <a:prstGeom prst="roundRect">
            <a:avLst/>
          </a:prstGeom>
          <a:solidFill>
            <a:srgbClr val="4A2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08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A882"/>
                </a:solidFill>
                <a:latin typeface="Microsoft YaHei"/>
              </a:defRPr>
            </a:pPr>
            <a:r>
              <a:t>生态·平台化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520000"/>
            <a:ext cx="27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8"/>
                </a:solidFill>
                <a:latin typeface="Microsoft YaHei"/>
              </a:defRPr>
            </a:pPr>
            <a:r>
              <a:t>多医院SaaS</a:t>
            </a:r>
            <a:br/>
            <a:r>
              <a:t>医联体/数据开放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78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A882"/>
                </a:solidFill>
                <a:latin typeface="Microsoft YaHei"/>
              </a:defRPr>
            </a:pPr>
            <a:r>
              <a:t>📋 规划中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9A64"/>
                </a:solidFill>
                <a:latin typeface="Microsoft YaHei"/>
              </a:defRPr>
            </a:pPr>
            <a:r>
              <a:t>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我们能带来什么？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A2B"/>
                </a:solidFill>
                <a:latin typeface="Microsoft YaHei"/>
              </a:defRPr>
            </a:pPr>
            <a:r>
              <a:t>🏥 对医院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2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📈 复诊率提升 20-30%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90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AI持续触达+随访提醒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34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⏱️ 随访效率提升 5 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62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AI代替人工电话随访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06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💰 康养科增收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34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变成康养管理中心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378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🏆 响应政策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0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落地"AI+中医药"场景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9A64"/>
                </a:solidFill>
                <a:latin typeface="Microsoft YaHei"/>
              </a:defRPr>
            </a:pPr>
            <a:r>
              <a:t>💚 对患者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162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🪞 认识自己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190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标准化体质评估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234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📋 可执行方案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262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具体到食谱、穴位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306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🤝 离院不离"管"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334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7×24AI+医生关注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0" y="378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📊 看得见的改变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0" y="40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A"/>
                </a:solidFill>
                <a:latin typeface="Microsoft YaHei"/>
              </a:defRPr>
            </a:pPr>
            <a:r>
              <a:t>趋势图量化进步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C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260000"/>
            <a:ext cx="93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EFE4"/>
                </a:solidFill>
                <a:latin typeface="Microsoft YaHei"/>
              </a:defRPr>
            </a:pPr>
            <a:r>
              <a:t>智慧中医康养平台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270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4A882"/>
                </a:solidFill>
                <a:latin typeface="Microsoft YaHei"/>
              </a:defRPr>
            </a:pPr>
            <a:r>
              <a:t>谢 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0" y="360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A882"/>
                </a:solidFill>
                <a:latin typeface="Microsoft YaHei"/>
              </a:defRPr>
            </a:pPr>
            <a:r>
              <a:t>上工治未病，智慧护康养</a:t>
            </a:r>
            <a:br/>
            <a:r>
              <a:t>让每一次健康管理，都有中医智慧相伴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0" y="468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A882"/>
                </a:solidFill>
                <a:latin typeface="Microsoft YaHei"/>
              </a:defRPr>
            </a:pPr>
            <a:r>
              <a:t>📱 微信小程序·患者端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468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A882"/>
                </a:solidFill>
                <a:latin typeface="Microsoft YaHei"/>
              </a:defRPr>
            </a:pPr>
            <a:r>
              <a:t>💻 Web后台·医生端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0" y="468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A882"/>
                </a:solidFill>
                <a:latin typeface="Microsoft YaHei"/>
              </a:defRPr>
            </a:pPr>
            <a:r>
              <a:t>🧠 AI·通义千问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